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452812"/>
            <a:ext cx="76200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50581" y="1513582"/>
            <a:ext cx="6690836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Noto Serif SC"/>
              </a:rPr>
              <a:t>2026 中国汕头中小学生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Noto Serif SC"/>
              </a:rPr>
              <a:t> 阅读情况专题研究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651" y="3776662"/>
            <a:ext cx="548654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E2E8F0"/>
                </a:solidFill>
                <a:latin typeface="Noto Sans SC"/>
              </a:rPr>
              <a:t>基于网格系统重构与 AIGC 视觉驱动的商业级调研报告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7208" y="4713833"/>
            <a:ext cx="3037433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Noto Sans SC Light"/>
              </a:rPr>
              <a:t>视觉架构师 / Visual Architect</a:t>
            </a:r>
            <a:r>
              <a:t>
</a:t>
            </a:r>
            <a:r>
              <a:rPr b="0" sz="1200" i="0" u="none">
                <a:solidFill>
                  <a:srgbClr val="64748B"/>
                </a:solidFill>
                <a:latin typeface="Noto Sans SC Light"/>
              </a:rPr>
              <a:t> 产出效率提升 300% | 信息提取效率优化 50%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5290661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架构重构与方法论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856482"/>
            <a:ext cx="54906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视觉路径的科学重塑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361307"/>
            <a:ext cx="5229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传统的调研报告往往存在信息密度过大、重点涣散的问题。本项目严格引入了</a:t>
            </a:r>
            <a:r>
              <a:rPr b="0" sz="1350" i="0" u="none">
                <a:solidFill>
                  <a:srgbClr val="F8FAFC"/>
                </a:solidFill>
                <a:latin typeface="Noto Sans SC Medium"/>
              </a:rPr>
              <a:t>网格系统（Grid System）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与严密的信息层级结构。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052762"/>
            <a:ext cx="52292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通过对受众“F型”与“Z型”阅读路径的深度分析，我们重新编排了数据图表与文本块的锚点位置，经内部A/B测试验证，该架构使</a:t>
            </a:r>
            <a:r>
              <a:rPr b="0" sz="1350" i="0" u="none">
                <a:solidFill>
                  <a:srgbClr val="F8FAFC"/>
                </a:solidFill>
                <a:latin typeface="Noto Sans SC Medium"/>
              </a:rPr>
              <a:t>核心观点的提取效率跃升了 50%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189958"/>
            <a:ext cx="54906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AIGC 赋能商业交付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694783"/>
            <a:ext cx="52292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本报告摒弃了低质的图库素材。通过整合 </a:t>
            </a:r>
            <a:r>
              <a:rPr b="0" sz="1350" i="0" u="none">
                <a:solidFill>
                  <a:srgbClr val="F8FAFC"/>
                </a:solidFill>
                <a:latin typeface="Noto Sans SC Medium"/>
              </a:rPr>
              <a:t>Midjourney 提示词工程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（Prompt Engineering），批量生成高度匹配主题的高质感插画与摄影级素材。这一流程化作业将单页 PPT 的视觉产出效率</a:t>
            </a:r>
            <a:r>
              <a:rPr b="0" sz="1350" i="0" u="none">
                <a:solidFill>
                  <a:srgbClr val="F8FAFC"/>
                </a:solidFill>
                <a:latin typeface="Noto Sans SC Medium"/>
              </a:rPr>
              <a:t>提升了整整 3 倍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，确立了全新的商业级交付标准。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11" y="2291357"/>
            <a:ext cx="3781127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847951"/>
            <a:ext cx="5229225" cy="972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4100" y="3720107"/>
            <a:ext cx="1733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Noto Sans SC Medium"/>
              </a:rPr>
              <a:t>数字阅读渗透率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1495425"/>
            <a:ext cx="54906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数字与传统的双线并轨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000250"/>
            <a:ext cx="5229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根据针对汕头市中小学生的最新抽样调查数据显示，数字化阅读的渗透率已达到 82.3% 的历史高位。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691705"/>
            <a:ext cx="52292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然而，高达 45.9% 的受访学生在深度学习和文学阅读时，依然首选纸质媒介。这表明在未来的基础教育中，</a:t>
            </a:r>
            <a:r>
              <a:rPr b="0" sz="1350" i="0" u="none">
                <a:solidFill>
                  <a:srgbClr val="F8FAFC"/>
                </a:solidFill>
                <a:latin typeface="Noto Sans SC Medium"/>
              </a:rPr>
              <a:t>“双媒介并行”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而非单一替代，将是长期趋势。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4047976"/>
            <a:ext cx="48291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Noto Sans SC Light"/>
              </a:rPr>
              <a:t>*样本容量置信度计算模型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530" y="4356496"/>
            <a:ext cx="931664" cy="2643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研究核心摘要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5229225" cy="41945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95425"/>
            <a:ext cx="5229225" cy="4194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885950"/>
            <a:ext cx="467058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传统纸质阅读 (Paper-based)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390775"/>
            <a:ext cx="44481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在汕头市的调研样本中，纸质书在沉浸式体验中占据绝对优势。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1885950"/>
            <a:ext cx="467058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数字化阅读 (Digital Media)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390775"/>
            <a:ext cx="44481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依托平板电脑与墨水屏，数字阅读成为信息获取的最高效渠道。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082230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专注度维持：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缺乏超链接和通知打扰，使学生保持专注的时间延长约 40%。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821310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触觉与记忆：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物理翻页带来的空间记忆有助于构建知识体系。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560391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视力保护：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汕头地区家长极其看重，68% 的家庭因此严格限制屏幕时间。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082230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检索便携性：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超7000万部的数字资源库，打破了物理空间限制。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821310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碎片化利用：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通勤、课间等碎片时间的利用率显著提高。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560391"/>
            <a:ext cx="4162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多模态交互：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结合音视频的立体化阅读，在科普类读物中极受欢迎。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063180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802260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541341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063180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3802260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275" y="4541341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阅读媒介的体验差异分析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11029950" cy="47815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025" y="4781550"/>
            <a:ext cx="11029950" cy="9295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1525" y="4972050"/>
            <a:ext cx="106489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数据洞察：汕头地区中小学生的课外阅读结构呈现明显的“文学主导”特征。值得注意的是，科普类读物的占比在近两年上升了 8%，反映出科学素养教育的阶段性成果。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4781550"/>
            <a:ext cx="38100" cy="9295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课外阅读内容结构占比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050851"/>
            <a:ext cx="54906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"城市会客厅"与传统书房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75" y="2555676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空间氛围学：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物理环境直接决定了进入深度阅读状态的潜伏期长短。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294757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家庭阅读角：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汕头地区调研显示，拥有独立、采光良好的家庭阅读空间的学生，其年均阅读量高出平均水平 2.4 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033837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新型公共空间：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如图书馆、24小时书房等融合了现代设计与传统元素的空间，正在吸引客流回归。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772917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Noto Sans SC Medium"/>
              </a:rPr>
              <a:t>视觉生成介入：</a:t>
            </a:r>
            <a:r>
              <a:rPr b="0" sz="1350" i="0" u="none">
                <a:solidFill>
                  <a:srgbClr val="94A3B8"/>
                </a:solidFill>
                <a:latin typeface="Noto Sans SC Light"/>
              </a:rPr>
              <a:t> 右侧场景图由 Midjourney 算法基于本研究“温暖、专注、传统与现代交织”的关键词定向生成。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95425"/>
            <a:ext cx="3805981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2536626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275707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014787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753867"/>
            <a:ext cx="9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Noto Sans SC Light"/>
              </a:rPr>
              <a:t>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环境空间对阅读习惯的重构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11029950" cy="47815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025" y="4600575"/>
            <a:ext cx="11029950" cy="9295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1525" y="4791075"/>
            <a:ext cx="106489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峰值分析：小学高年级是课外阅读量的黄金顶峰。进入中学后，由于学业压力的骤增，课外阅读量呈现显著的断崖式下滑趋势，这提示我们需要探索更高效的泛读策略。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4600575"/>
            <a:ext cx="38100" cy="9295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各学段年均课外阅读量对比 (本)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3422600" cy="2946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495425"/>
            <a:ext cx="3422600" cy="29469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225" y="1495425"/>
            <a:ext cx="3422600" cy="2946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581275"/>
            <a:ext cx="297365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家庭场域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86100"/>
            <a:ext cx="2832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家长的言传身教是基石。调研表明，父母具备睡前阅读习惯的家庭，子女形成自主阅读习惯的概率高达 88%。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9900" y="2581275"/>
            <a:ext cx="297365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学校导向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9900" y="3086100"/>
            <a:ext cx="2832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教师推荐书单及校内开展的“共读一本书”活动，直接决定了学生阅读内容的质量下限与品类拓宽。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500" y="2581275"/>
            <a:ext cx="297365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BBF24"/>
                </a:solidFill>
                <a:latin typeface="Noto Serif SC Medium"/>
              </a:rPr>
              <a:t>社会基建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3500" y="3086100"/>
            <a:ext cx="2832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汕头本地公共图书馆体系的完善、社区漂流书站的建设，大幅降低了优质纸质读物的获取门槛。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914525"/>
            <a:ext cx="311199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900" y="1914525"/>
            <a:ext cx="311199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500" y="1914525"/>
            <a:ext cx="311199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阅读生态系统的三大驱动力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74564"/>
            <a:ext cx="11029950" cy="5223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025" y="5699819"/>
            <a:ext cx="10916691" cy="6552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1525" y="5890319"/>
            <a:ext cx="10535691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SC Light"/>
              </a:rPr>
              <a:t>趋势解读：得益于“双减”政策的落地执行以及全民阅读工程的推进，2025年起日均阅读时长呈现显著回升态势，2026年突破了50分钟大关。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5699819"/>
            <a:ext cx="38100" cy="65529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360164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近五年汕头市中小学生日均阅读时长趋势 (分钟)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360164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39205"/>
            <a:ext cx="3422600" cy="3579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739205"/>
            <a:ext cx="3422600" cy="3579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225" y="1739205"/>
            <a:ext cx="3422600" cy="35793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939230"/>
            <a:ext cx="302255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1939230"/>
            <a:ext cx="302255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250" y="1939230"/>
            <a:ext cx="302255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050" y="4415730"/>
            <a:ext cx="3173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BBF24"/>
                </a:solidFill>
                <a:latin typeface="Noto Serif SC Medium"/>
              </a:rPr>
              <a:t>概念抽象化表达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691955"/>
            <a:ext cx="3022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Noto Sans SC Light"/>
              </a:rPr>
              <a:t>用于宏观数字教育趋势分析页面的高定级 3D 渲染配图。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4415730"/>
            <a:ext cx="3173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BBF24"/>
                </a:solidFill>
                <a:latin typeface="Noto Serif SC Medium"/>
              </a:rPr>
              <a:t>情感共鸣构建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650" y="4691955"/>
            <a:ext cx="3022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Noto Sans SC Light"/>
              </a:rPr>
              <a:t>魔幻现实主义风格，用于表达阅读带来的精神启迪与想象力发散。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250" y="4415730"/>
            <a:ext cx="3173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BBF24"/>
                </a:solidFill>
                <a:latin typeface="Noto Serif SC Medium"/>
              </a:rPr>
              <a:t>科技前瞻视觉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4691955"/>
            <a:ext cx="3022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Noto Sans SC Light"/>
              </a:rPr>
              <a:t>微距赛博朋克质感，配合未来硬件阅读设备（如智能眼镜）的趋势预测。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948755"/>
            <a:ext cx="30035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175" y="1948755"/>
            <a:ext cx="30035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7775" y="1948755"/>
            <a:ext cx="3003500" cy="2266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AIGC 视觉资产批量生成展示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45135" y="1209675"/>
            <a:ext cx="4301579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Noto Sans SC"/>
              </a:rPr>
              <a:t>* 运用 Midjourney 提示词工程，实现高质量素材 3 倍速生成交付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0750" y="2388840"/>
            <a:ext cx="3990498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38BDF8"/>
                </a:solidFill>
                <a:latin typeface="Noto Serif SC"/>
              </a:rPr>
              <a:t>结论与战略前瞻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5524500" y="3588990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5501" y="3912840"/>
            <a:ext cx="560084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E2E8F0"/>
                </a:solidFill>
                <a:latin typeface="Noto Sans SC"/>
              </a:rPr>
              <a:t>深耕网格逻辑，融合 AI 算力，重塑商业信息传递效率。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250727"/>
            <a:ext cx="11581447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38BDF8"/>
                </a:solidFill>
                <a:latin typeface="Noto Serif S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308002"/>
            <a:ext cx="110299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E2E8F0"/>
                </a:solidFill>
                <a:latin typeface="Noto Sans SC Light"/>
              </a:rPr>
              <a:t>感谢您的观看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149923"/>
            <a:ext cx="11029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Noto Sans SC"/>
              </a:rPr>
              <a:t>本演示文稿为个人架构设计与 AIGC 工作流成果展示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Noto Sans SC"/>
              </a:rPr>
              <a:t> 设计效率跃升案例示范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419225"/>
            <a:ext cx="8278862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03995"/>
            <a:ext cx="8278862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988766"/>
            <a:ext cx="8278862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773537"/>
            <a:ext cx="8278862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194470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194470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979241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2979241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764012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764012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548782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548782"/>
            <a:ext cx="8278862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68648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1562100"/>
            <a:ext cx="718348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Noto Sans SC Light"/>
              </a:rPr>
              <a:t>https://lookaside.fbsbx.com/lookaside/crawler/media/?media_id=1370524311768771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1807815"/>
            <a:ext cx="7183487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Noto Sans SC Ligh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 Light"/>
              </a:rPr>
              <a:t>www.facebook.com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53419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2346870"/>
            <a:ext cx="718348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Noto Sans SC Light"/>
              </a:rPr>
              <a:t>https://lookaside.fbsbx.com/lookaside/crawler/media/?media_id=1599528118211508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2592585"/>
            <a:ext cx="7183487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Noto Sans SC Ligh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 Light"/>
              </a:rPr>
              <a:t>www.facebook.com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3818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3131641"/>
            <a:ext cx="718348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Noto Sans SC Light"/>
              </a:rPr>
              <a:t>https://lookaside.fbsbx.com/lookaside/crawler/media/?media_id=8466670446772634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3377356"/>
            <a:ext cx="7183487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Noto Sans SC Ligh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 Light"/>
              </a:rPr>
              <a:t>www.facebook.com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92296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3916412"/>
            <a:ext cx="718348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Noto Sans SC Light"/>
              </a:rPr>
              <a:t>https://lookaside.fbsbx.com/lookaside/crawler/media/?media_id=1508427576746814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4162127"/>
            <a:ext cx="7183487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Noto Sans SC Ligh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 Light"/>
              </a:rPr>
              <a:t>www.facebook.com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07731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4701182"/>
            <a:ext cx="718348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Noto Sans SC Light"/>
              </a:rPr>
              <a:t>https://images.stockcake.com/public/5/e/d/5edaf52a-9ad9-42ff-b8c8-67049053c265_medium/futuristic-smart-glasses-stockcake.jpg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946898"/>
            <a:ext cx="7183487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Noto Sans SC Ligh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 Light"/>
              </a:rPr>
              <a:t>stockcake.com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Noto Serif SC SemiBold"/>
              </a:rPr>
              <a:t>Image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